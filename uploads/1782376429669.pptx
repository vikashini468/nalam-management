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0" r:id="rId7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F2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D2DFD-8105-45DF-A46F-B8F822E4200A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8A5345-999F-4943-8D84-22AED9053D2F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A5345-999F-4943-8D84-22AED9053D2F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A5345-999F-4943-8D84-22AED9053D2F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A5345-999F-4943-8D84-22AED9053D2F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1381" y="373627"/>
            <a:ext cx="10638503" cy="727587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 ATTENDANCE MONITORING SYSTEM</a:t>
            </a:r>
            <a:endParaRPr lang="en-IN" sz="40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0271" y="373627"/>
            <a:ext cx="11159613" cy="72758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516255" y="2467610"/>
            <a:ext cx="11159490" cy="2640965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BATCH MEMBERS</a:t>
            </a:r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1.  P. Abirami                (953723243001)   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2.  G.Vikashini              (953723243059)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1297859"/>
            <a:ext cx="12192000" cy="72758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Subtitle 9"/>
          <p:cNvSpPr>
            <a:spLocks noGrp="1"/>
          </p:cNvSpPr>
          <p:nvPr>
            <p:ph type="subTitle" idx="1"/>
          </p:nvPr>
        </p:nvSpPr>
        <p:spPr>
          <a:xfrm>
            <a:off x="516193" y="5466735"/>
            <a:ext cx="10988419" cy="845575"/>
          </a:xfrm>
          <a:ln>
            <a:solidFill>
              <a:srgbClr val="0070C0"/>
            </a:solidFill>
          </a:ln>
        </p:spPr>
        <p:txBody>
          <a:bodyPr>
            <a:normAutofit fontScale="92500" lnSpcReduction="20000"/>
          </a:bodyPr>
          <a:lstStyle/>
          <a:p>
            <a:r>
              <a:rPr lang="en-US" dirty="0"/>
              <a:t>                                                                         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SUPERVISOR</a:t>
            </a:r>
            <a:endParaRPr lang="en-U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Mr. P. Samayan, M.E, Assistant Professor/ECE</a:t>
            </a:r>
            <a:endParaRPr lang="en-I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884903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                           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PROJECT OBJECTIVES</a:t>
            </a:r>
            <a:endParaRPr lang="en-IN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248410" y="1494790"/>
            <a:ext cx="9822180" cy="4731385"/>
          </a:xfrm>
        </p:spPr>
        <p:txBody>
          <a:bodyPr>
            <a:noAutofit/>
          </a:bodyPr>
          <a:lstStyle/>
          <a:p>
            <a:pPr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real-time ICU patient monitoring system using IoT technology.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continuously measure patient body temperature using the MLX90614 infrared temperature sensor.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monitor heart rate (BPM) accurately using the HW-827 pulse sensor.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and process biomedical data using Arduino Mega 2560 as the main controller.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wireless transmission of patient health data using ESP32 Wi-Fi module.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remote access of patient vital signs to doctors and caregivers in real time.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monitoring efforts and improve efficiency in ICU environments.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early detection of abnormal health conditions through continuous tracking.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patient safety by enabling instant alerts during critical conditions (high fever, abnormal pulse).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cost-effective and scalable IoT-based healthcare monitoring solution.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914400"/>
          </a:xfrm>
          <a:solidFill>
            <a:srgbClr val="0070C0"/>
          </a:solidFill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                           PROJECT DESCRIPTION</a:t>
            </a:r>
            <a:endParaRPr lang="en-IN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6580" y="1219199"/>
            <a:ext cx="11405419" cy="5437239"/>
          </a:xfrm>
        </p:spPr>
        <p:txBody>
          <a:bodyPr>
            <a:noAutofit/>
          </a:bodyPr>
          <a:lstStyle/>
          <a:p>
            <a:pPr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designed to continuously monitor ICU patient vital signs using IoT technology.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MLX90614 infrared temperature sensor to measure body temperature without physical contact.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HW-827 heart rate sensor is used to detect and monitor the patient’s pulse rate (BPM).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Arduino Mega 2560 acts as the central processing unit to collect and process sensor data.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ESP32 Wi-Fi module enables wireless communication of patient health data to a remote server or cloud platform.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patient data is transmitted so that doctors and medical staff can monitor patients from anywhere.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displays continuous readings of temperature and heart rate for effective observation.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abnormal conditions are detected (high temperature or irregular pulse), the system can be configured to trigger alerts.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the need for constant manual checking by healthcare staff.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response time in critical situations by enabling remote and continuous monitoring.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provides a low-cost and efficient solution for ICU patient monitoring.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enhances patient safety by ensuring 24/7 tracking of vital health parameters.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16077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                                      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ABSTRACT</a:t>
            </a:r>
            <a:endParaRPr lang="en-IN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910" y="884903"/>
            <a:ext cx="10815484" cy="5668298"/>
          </a:xfrm>
        </p:spPr>
        <p:txBody>
          <a:bodyPr>
            <a:normAutofit/>
          </a:bodyPr>
          <a:lstStyle/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developing an IoT-based system for real-time monitoring of ICU patients.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aims to continuously track critical health parameters such as body temperature and heart rate.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the MLX90614 infrared temperature sensor for non-contact temperature measurement.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HW-827 heart rate sensor is used to measure the patient’s pulse rate accurately.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Arduino Mega 2560 is used as the main controller to process sensor data.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ESP32 Wi-Fi module enables wireless transmission of health data to remote devices or cloud platforms.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collected data can be monitored by doctors and healthcare staff in real time.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in early detection of abnormal conditions like fever or irregular heartbeat.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manual monitoring efforts and improves efficiency in ICU environments.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can be generated when vital signs exceed normal thresholds.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provides a cost-effective and scalable solution for modern healthcare monitoring.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it enhances patient safety and enables continuous remote healthcare supervision.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806246"/>
          </a:xfrm>
          <a:solidFill>
            <a:srgbClr val="0070C0"/>
          </a:solidFill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                            LITERATURE SURVEY: </a:t>
            </a:r>
            <a:r>
              <a:rPr lang="en-US" sz="4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1</a:t>
            </a:r>
            <a:endParaRPr lang="en-IN" sz="4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06245" y="1219200"/>
          <a:ext cx="10993338" cy="52307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2223"/>
                <a:gridCol w="1832223"/>
                <a:gridCol w="1832223"/>
                <a:gridCol w="1832223"/>
                <a:gridCol w="1832223"/>
                <a:gridCol w="1832223"/>
              </a:tblGrid>
              <a:tr h="261538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261538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484670" y="1288027"/>
          <a:ext cx="9625781" cy="5389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9007"/>
                <a:gridCol w="6636774"/>
              </a:tblGrid>
              <a:tr h="900290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u="none" strike="noStrike" cap="none">
                          <a:solidFill>
                            <a:schemeClr val="tx1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Cambria" panose="02040503050406030204"/>
                        </a:rPr>
                        <a:t>Name of the Paper:</a:t>
                      </a:r>
                      <a:endParaRPr lang="en-GB" sz="1800" b="0" u="none" strike="noStrike" cap="none">
                        <a:solidFill>
                          <a:schemeClr val="tx1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  <a:sym typeface="Cambria" panose="02040503050406030204"/>
                      </a:endParaRPr>
                    </a:p>
                  </a:txBody>
                  <a:tcPr marL="0" marR="0" marT="28575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 dirty="0"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IOT based Patient Monitoring real time</a:t>
                      </a:r>
                      <a:endParaRPr lang="en-US" sz="2000" b="0" u="none" strike="noStrike" cap="none" dirty="0"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900290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cap="none"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Cambria" panose="02040503050406030204"/>
                        </a:rPr>
                        <a:t>Year of Publish:</a:t>
                      </a:r>
                      <a:endParaRPr sz="1800" u="none" strike="noStrike" cap="none">
                        <a:latin typeface="Cambria" panose="02040503050406030204"/>
                        <a:ea typeface="Cambria" panose="02040503050406030204"/>
                        <a:cs typeface="Cambria" panose="02040503050406030204"/>
                        <a:sym typeface="Cambria" panose="02040503050406030204"/>
                      </a:endParaRPr>
                    </a:p>
                  </a:txBody>
                  <a:tcPr marL="0" marR="0" marT="28575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u="none" strike="noStrike" cap="none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2020</a:t>
                      </a:r>
                      <a:endParaRPr sz="2000" b="0" u="none" strike="noStrike" cap="none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900290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cap="none"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Cambria" panose="02040503050406030204"/>
                        </a:rPr>
                        <a:t>Name of the Authors:</a:t>
                      </a:r>
                      <a:endParaRPr sz="1800" u="none" strike="noStrike" cap="none">
                        <a:latin typeface="Cambria" panose="02040503050406030204"/>
                        <a:ea typeface="Cambria" panose="02040503050406030204"/>
                        <a:cs typeface="Cambria" panose="02040503050406030204"/>
                        <a:sym typeface="Cambria" panose="02040503050406030204"/>
                      </a:endParaRPr>
                    </a:p>
                  </a:txBody>
                  <a:tcPr marL="0" marR="0" marT="28575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H.-T. Yew, S. K. Chung, M. F. Ng, A. Chekima, S. Z. Ping &amp; J. A. Dargham</a:t>
                      </a:r>
                      <a:endParaRPr sz="2000" u="none" strike="noStrike" cap="none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900290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cap="none"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Cambria" panose="02040503050406030204"/>
                        </a:rPr>
                        <a:t>Name of the Journal:</a:t>
                      </a:r>
                      <a:endParaRPr sz="1800" u="none" strike="noStrike" cap="none">
                        <a:latin typeface="Cambria" panose="02040503050406030204"/>
                        <a:ea typeface="Cambria" panose="02040503050406030204"/>
                        <a:cs typeface="Cambria" panose="02040503050406030204"/>
                        <a:sym typeface="Cambria" panose="02040503050406030204"/>
                      </a:endParaRPr>
                    </a:p>
                  </a:txBody>
                  <a:tcPr marL="0" marR="0" marT="28575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IEEE Access</a:t>
                      </a:r>
                      <a:endParaRPr sz="1800" b="0" i="0" dirty="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87722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Cambria" panose="02040503050406030204"/>
                        </a:rPr>
                        <a:t>Methodology:</a:t>
                      </a:r>
                      <a:endParaRPr sz="1800">
                        <a:latin typeface="Cambria" panose="02040503050406030204"/>
                        <a:ea typeface="Cambria" panose="02040503050406030204"/>
                        <a:cs typeface="Cambria" panose="02040503050406030204"/>
                        <a:sym typeface="Cambria" panose="02040503050406030204"/>
                      </a:endParaRPr>
                    </a:p>
                  </a:txBody>
                  <a:tcPr marL="0" marR="0" marT="28575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Threshold based inference system</a:t>
                      </a:r>
                      <a:endParaRPr lang="en-US" sz="2000" dirty="0"/>
                    </a:p>
                  </a:txBody>
                  <a:tcPr marL="0" marR="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900290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Cambria" panose="02040503050406030204"/>
                        </a:rPr>
                        <a:t>Inferences:</a:t>
                      </a:r>
                      <a:endParaRPr sz="1800">
                        <a:latin typeface="Cambria" panose="02040503050406030204"/>
                        <a:ea typeface="Cambria" panose="02040503050406030204"/>
                        <a:cs typeface="Cambria" panose="02040503050406030204"/>
                        <a:sym typeface="Cambria" panose="02040503050406030204"/>
                      </a:endParaRPr>
                    </a:p>
                  </a:txBody>
                  <a:tcPr marL="0" marR="0" marT="28575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IOT and Wireless network</a:t>
                      </a:r>
                      <a:endParaRPr lang="en-US" sz="2000" dirty="0"/>
                    </a:p>
                  </a:txBody>
                  <a:tcPr marL="0" marR="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260825" cy="875070"/>
          </a:xfrm>
          <a:solidFill>
            <a:srgbClr val="0070C0"/>
          </a:solidFill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                         LITERATURE SURVEY: </a:t>
            </a:r>
            <a:r>
              <a:rPr lang="en-US" sz="4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2</a:t>
            </a:r>
            <a:endParaRPr lang="en-IN" sz="4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20556" y="1288027"/>
          <a:ext cx="10954008" cy="5004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5668"/>
                <a:gridCol w="1825668"/>
                <a:gridCol w="1825668"/>
                <a:gridCol w="1825668"/>
                <a:gridCol w="1825668"/>
                <a:gridCol w="1825668"/>
              </a:tblGrid>
              <a:tr h="250231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250231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101213" y="1288027"/>
          <a:ext cx="10009239" cy="523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7832"/>
                <a:gridCol w="6951407"/>
              </a:tblGrid>
              <a:tr h="857846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>
                          <a:solidFill>
                            <a:schemeClr val="tx1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Cambria" panose="02040503050406030204"/>
                        </a:rPr>
                        <a:t>Name of the Paper:</a:t>
                      </a:r>
                      <a:endParaRPr lang="en-GB" sz="1800" b="0">
                        <a:solidFill>
                          <a:schemeClr val="tx1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  <a:sym typeface="Cambria" panose="02040503050406030204"/>
                      </a:endParaRPr>
                    </a:p>
                  </a:txBody>
                  <a:tcPr marL="0" marR="0" marT="28575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>
                          <a:solidFill>
                            <a:schemeClr val="tx1"/>
                          </a:solidFill>
                          <a:sym typeface="+mn-ea"/>
                        </a:rPr>
                        <a:t>Intelligent Healthcare monitoring System using ML</a:t>
                      </a:r>
                      <a:endParaRPr sz="2000" b="0" u="none" strike="noStrike" cap="none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57846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Cambria" panose="02040503050406030204"/>
                        </a:rPr>
                        <a:t>Year of Publish:</a:t>
                      </a:r>
                      <a:endParaRPr sz="1800">
                        <a:latin typeface="Cambria" panose="02040503050406030204"/>
                        <a:ea typeface="Cambria" panose="02040503050406030204"/>
                        <a:cs typeface="Cambria" panose="02040503050406030204"/>
                        <a:sym typeface="Cambria" panose="02040503050406030204"/>
                      </a:endParaRPr>
                    </a:p>
                  </a:txBody>
                  <a:tcPr marL="0" marR="0" marT="28575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i="0" u="none" strike="noStrike" dirty="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20</a:t>
                      </a:r>
                      <a:r>
                        <a:rPr lang="en-US" altLang="en-GB" sz="2000" b="0" i="0" u="none" strike="noStrike" dirty="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20</a:t>
                      </a:r>
                      <a:endParaRPr lang="en-US" altLang="en-GB" sz="2000" b="0" i="0" u="none" strike="noStrike" dirty="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57846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Cambria" panose="02040503050406030204"/>
                        </a:rPr>
                        <a:t>Name of the Authors:</a:t>
                      </a:r>
                      <a:endParaRPr sz="1800">
                        <a:latin typeface="Cambria" panose="02040503050406030204"/>
                        <a:ea typeface="Cambria" panose="02040503050406030204"/>
                        <a:cs typeface="Cambria" panose="02040503050406030204"/>
                        <a:sym typeface="Cambria" panose="02040503050406030204"/>
                      </a:endParaRPr>
                    </a:p>
                  </a:txBody>
                  <a:tcPr marL="0" marR="0" marT="28575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Kumar et al.</a:t>
                      </a:r>
                      <a:endParaRPr sz="2000" b="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57846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Cambria" panose="02040503050406030204"/>
                        </a:rPr>
                        <a:t>Name of the Journal:</a:t>
                      </a:r>
                      <a:endParaRPr sz="1800">
                        <a:latin typeface="Cambria" panose="02040503050406030204"/>
                        <a:ea typeface="Cambria" panose="02040503050406030204"/>
                        <a:cs typeface="Cambria" panose="02040503050406030204"/>
                        <a:sym typeface="Cambria" panose="02040503050406030204"/>
                      </a:endParaRPr>
                    </a:p>
                  </a:txBody>
                  <a:tcPr marL="0" marR="0" marT="28575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2000" b="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Remote Patient Monitoring</a:t>
                      </a:r>
                      <a:endParaRPr lang="en-US" sz="2000" b="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45871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Cambria" panose="02040503050406030204"/>
                        </a:rPr>
                        <a:t>Methodology:</a:t>
                      </a:r>
                      <a:endParaRPr sz="1800">
                        <a:latin typeface="Cambria" panose="02040503050406030204"/>
                        <a:ea typeface="Cambria" panose="02040503050406030204"/>
                        <a:cs typeface="Cambria" panose="02040503050406030204"/>
                        <a:sym typeface="Cambria" panose="02040503050406030204"/>
                      </a:endParaRPr>
                    </a:p>
                  </a:txBody>
                  <a:tcPr marL="0" marR="0" marT="28575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Machine Learning–based health data analysis</a:t>
                      </a:r>
                      <a:endParaRPr sz="2000" u="none" strike="noStrike" cap="non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958420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Cambria" panose="02040503050406030204"/>
                        </a:rPr>
                        <a:t>Inferences:</a:t>
                      </a:r>
                      <a:endParaRPr sz="1800">
                        <a:latin typeface="Cambria" panose="02040503050406030204"/>
                        <a:ea typeface="Cambria" panose="02040503050406030204"/>
                        <a:cs typeface="Cambria" panose="02040503050406030204"/>
                        <a:sym typeface="Cambria" panose="02040503050406030204"/>
                      </a:endParaRPr>
                    </a:p>
                  </a:txBody>
                  <a:tcPr marL="0" marR="0" marT="28575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ym typeface="+mn-ea"/>
                        </a:rPr>
                        <a:t>Uses structured vital sign data for smart healthcare monitoring and decision support</a:t>
                      </a:r>
                      <a:endParaRPr sz="20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943897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                      LITERATURE SURVEY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: </a:t>
            </a:r>
            <a:r>
              <a:rPr lang="en-US" sz="4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3</a:t>
            </a:r>
            <a:endParaRPr lang="en-IN" sz="44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150372" y="1337187"/>
          <a:ext cx="10127227" cy="5199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619"/>
                <a:gridCol w="6562608"/>
              </a:tblGrid>
              <a:tr h="807999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>
                          <a:solidFill>
                            <a:schemeClr val="tx1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Cambria" panose="02040503050406030204"/>
                        </a:rPr>
                        <a:t>Name of the Paper:</a:t>
                      </a:r>
                      <a:endParaRPr lang="en-GB" sz="1800" b="0">
                        <a:solidFill>
                          <a:schemeClr val="tx1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  <a:sym typeface="Cambria" panose="02040503050406030204"/>
                      </a:endParaRPr>
                    </a:p>
                  </a:txBody>
                  <a:tcPr marL="0" marR="0" marT="28575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 b="0"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IoT Enabled Remote Patient Monitoring for Telemedicine Application</a:t>
                      </a:r>
                      <a:endParaRPr sz="1900" b="0" u="none" strike="noStrike" cap="none"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b="0" u="none" strike="noStrike" cap="none" dirty="0"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07999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Cambria" panose="02040503050406030204"/>
                        </a:rPr>
                        <a:t>Year of Publish:</a:t>
                      </a:r>
                      <a:endParaRPr sz="1800">
                        <a:latin typeface="Cambria" panose="02040503050406030204"/>
                        <a:ea typeface="Cambria" panose="02040503050406030204"/>
                        <a:cs typeface="Cambria" panose="02040503050406030204"/>
                        <a:sym typeface="Cambria" panose="02040503050406030204"/>
                      </a:endParaRPr>
                    </a:p>
                  </a:txBody>
                  <a:tcPr marL="0" marR="0" marT="28575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2021</a:t>
                      </a:r>
                      <a:endParaRPr sz="19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07999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Cambria" panose="02040503050406030204"/>
                        </a:rPr>
                        <a:t>Name of the Authors:</a:t>
                      </a:r>
                      <a:endParaRPr sz="1800">
                        <a:latin typeface="Cambria" panose="02040503050406030204"/>
                        <a:ea typeface="Cambria" panose="02040503050406030204"/>
                        <a:cs typeface="Cambria" panose="02040503050406030204"/>
                        <a:sym typeface="Cambria" panose="02040503050406030204"/>
                      </a:endParaRPr>
                    </a:p>
                  </a:txBody>
                  <a:tcPr marL="0" marR="0" marT="28575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Liu et al.</a:t>
                      </a:r>
                      <a:endParaRPr sz="2000" dirty="0"/>
                    </a:p>
                  </a:txBody>
                  <a:tcPr marL="0" marR="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07999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Cambria" panose="02040503050406030204"/>
                        </a:rPr>
                        <a:t>Name of the Journal:</a:t>
                      </a:r>
                      <a:endParaRPr sz="1800">
                        <a:latin typeface="Cambria" panose="02040503050406030204"/>
                        <a:ea typeface="Cambria" panose="02040503050406030204"/>
                        <a:cs typeface="Cambria" panose="02040503050406030204"/>
                        <a:sym typeface="Cambria" panose="02040503050406030204"/>
                      </a:endParaRPr>
                    </a:p>
                  </a:txBody>
                  <a:tcPr marL="0" marR="0" marT="28575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ym typeface="+mn-ea"/>
                        </a:rPr>
                        <a:t>International Journal of Telemedicine &amp; Applications</a:t>
                      </a:r>
                      <a:endParaRPr sz="200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07999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Cambria" panose="02040503050406030204"/>
                        </a:rPr>
                        <a:t>Methodology:</a:t>
                      </a:r>
                      <a:endParaRPr sz="1800">
                        <a:latin typeface="Cambria" panose="02040503050406030204"/>
                        <a:ea typeface="Cambria" panose="02040503050406030204"/>
                        <a:cs typeface="Cambria" panose="02040503050406030204"/>
                        <a:sym typeface="Cambria" panose="02040503050406030204"/>
                      </a:endParaRPr>
                    </a:p>
                  </a:txBody>
                  <a:tcPr marL="0" marR="0" marT="28575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IoT cloud architecture with wireless communication</a:t>
                      </a:r>
                      <a:endParaRPr sz="20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159303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Cambria" panose="02040503050406030204"/>
                        </a:rPr>
                        <a:t>Inferences:</a:t>
                      </a:r>
                      <a:endParaRPr sz="1800">
                        <a:latin typeface="Cambria" panose="02040503050406030204"/>
                        <a:ea typeface="Cambria" panose="02040503050406030204"/>
                        <a:cs typeface="Cambria" panose="02040503050406030204"/>
                        <a:sym typeface="Cambria" panose="02040503050406030204"/>
                      </a:endParaRPr>
                    </a:p>
                  </a:txBody>
                  <a:tcPr marL="0" marR="0" marT="28575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Enables real-time remote monitoring but lacks intelligent risk classification</a:t>
                      </a:r>
                      <a:endParaRPr sz="2000" b="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845574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                      LITERATURE SURVEY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: </a:t>
            </a:r>
            <a:r>
              <a:rPr lang="en-US" sz="4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4</a:t>
            </a:r>
            <a:endParaRPr lang="en-IN" sz="44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150372" y="1337187"/>
          <a:ext cx="10127227" cy="5199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619"/>
                <a:gridCol w="6562608"/>
              </a:tblGrid>
              <a:tr h="807999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>
                          <a:solidFill>
                            <a:schemeClr val="tx1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Cambria" panose="02040503050406030204"/>
                        </a:rPr>
                        <a:t>Name of the Paper:</a:t>
                      </a:r>
                      <a:endParaRPr lang="en-GB" sz="1800" b="0">
                        <a:solidFill>
                          <a:schemeClr val="tx1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  <a:sym typeface="Cambria" panose="02040503050406030204"/>
                      </a:endParaRPr>
                    </a:p>
                  </a:txBody>
                  <a:tcPr marL="0" marR="0" marT="28575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>
                          <a:solidFill>
                            <a:schemeClr val="tx1"/>
                          </a:solidFill>
                          <a:sym typeface="+mn-ea"/>
                        </a:rPr>
                        <a:t>ML Based Early Warning System for ICU Patient</a:t>
                      </a:r>
                      <a:endParaRPr sz="1800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07999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Cambria" panose="02040503050406030204"/>
                        </a:rPr>
                        <a:t>Year of Publish:</a:t>
                      </a:r>
                      <a:endParaRPr sz="1800">
                        <a:latin typeface="Cambria" panose="02040503050406030204"/>
                        <a:ea typeface="Cambria" panose="02040503050406030204"/>
                        <a:cs typeface="Cambria" panose="02040503050406030204"/>
                        <a:sym typeface="Cambria" panose="02040503050406030204"/>
                      </a:endParaRPr>
                    </a:p>
                  </a:txBody>
                  <a:tcPr marL="0" marR="0" marT="28575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2022</a:t>
                      </a:r>
                      <a:endParaRPr sz="19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07999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Cambria" panose="02040503050406030204"/>
                        </a:rPr>
                        <a:t>Name of the Authors:</a:t>
                      </a:r>
                      <a:endParaRPr sz="1800">
                        <a:latin typeface="Cambria" panose="02040503050406030204"/>
                        <a:ea typeface="Cambria" panose="02040503050406030204"/>
                        <a:cs typeface="Cambria" panose="02040503050406030204"/>
                        <a:sym typeface="Cambria" panose="02040503050406030204"/>
                      </a:endParaRPr>
                    </a:p>
                  </a:txBody>
                  <a:tcPr marL="0" marR="0" marT="28575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 err="1"/>
                        <a:t>Thiruvenkatam</a:t>
                      </a:r>
                      <a:r>
                        <a:rPr lang="en-US" sz="2000" dirty="0"/>
                        <a:t> et al.</a:t>
                      </a:r>
                      <a:endParaRPr sz="2000" dirty="0"/>
                    </a:p>
                  </a:txBody>
                  <a:tcPr marL="0" marR="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07999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Cambria" panose="02040503050406030204"/>
                        </a:rPr>
                        <a:t>Name of the Journal:</a:t>
                      </a:r>
                      <a:endParaRPr sz="1800">
                        <a:latin typeface="Cambria" panose="02040503050406030204"/>
                        <a:ea typeface="Cambria" panose="02040503050406030204"/>
                        <a:cs typeface="Cambria" panose="02040503050406030204"/>
                        <a:sym typeface="Cambria" panose="02040503050406030204"/>
                      </a:endParaRPr>
                    </a:p>
                  </a:txBody>
                  <a:tcPr marL="0" marR="0" marT="28575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800"/>
                        <a:buFont typeface="Times New Roman" panose="02020603050405020304"/>
                        <a:buNone/>
                      </a:pPr>
                      <a:r>
                        <a:rPr lang="en-GB" sz="1800" b="0" i="0" dirty="0">
                          <a:solidFill>
                            <a:srgbClr val="22222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Healthcare Informatics Journal</a:t>
                      </a:r>
                      <a:endParaRPr sz="190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800"/>
                        <a:buFont typeface="Times New Roman" panose="02020603050405020304"/>
                        <a:buNone/>
                      </a:pPr>
                      <a:endParaRPr sz="19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07999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Cambria" panose="02040503050406030204"/>
                        </a:rPr>
                        <a:t>Methodology:</a:t>
                      </a:r>
                      <a:endParaRPr sz="1800">
                        <a:latin typeface="Cambria" panose="02040503050406030204"/>
                        <a:ea typeface="Cambria" panose="02040503050406030204"/>
                        <a:cs typeface="Cambria" panose="02040503050406030204"/>
                        <a:sym typeface="Cambria" panose="02040503050406030204"/>
                      </a:endParaRPr>
                    </a:p>
                  </a:txBody>
                  <a:tcPr marL="0" marR="0" marT="28575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Predictive analysis using Machine Learning</a:t>
                      </a:r>
                      <a:endParaRPr sz="2000" u="none" strike="noStrike" cap="non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159303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Cambria" panose="02040503050406030204"/>
                        </a:rPr>
                        <a:t>Inferences:</a:t>
                      </a:r>
                      <a:endParaRPr sz="1800">
                        <a:latin typeface="Cambria" panose="02040503050406030204"/>
                        <a:ea typeface="Cambria" panose="02040503050406030204"/>
                        <a:cs typeface="Cambria" panose="02040503050406030204"/>
                        <a:sym typeface="Cambria" panose="02040503050406030204"/>
                      </a:endParaRPr>
                    </a:p>
                  </a:txBody>
                  <a:tcPr marL="0" marR="0" marT="28575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ym typeface="+mn-ea"/>
                        </a:rPr>
                        <a:t>Detects early patient deterioration but has limited real-time IoT integration</a:t>
                      </a:r>
                      <a:endParaRPr sz="190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806245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                      LITERATURE SURVEY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: </a:t>
            </a:r>
            <a:r>
              <a:rPr lang="en-US" sz="4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5</a:t>
            </a:r>
            <a:endParaRPr lang="en-IN" sz="44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150372" y="1361795"/>
          <a:ext cx="10117396" cy="51352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5151"/>
                <a:gridCol w="6902245"/>
              </a:tblGrid>
              <a:tr h="705913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>
                          <a:solidFill>
                            <a:schemeClr val="tx1"/>
                          </a:solidFill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Cambria" panose="02040503050406030204"/>
                        </a:rPr>
                        <a:t>Name of the Paper:</a:t>
                      </a:r>
                      <a:endParaRPr lang="en-GB" sz="1800" b="0">
                        <a:solidFill>
                          <a:schemeClr val="tx1"/>
                        </a:solidFill>
                        <a:latin typeface="Cambria" panose="02040503050406030204"/>
                        <a:ea typeface="Cambria" panose="02040503050406030204"/>
                        <a:cs typeface="Cambria" panose="02040503050406030204"/>
                        <a:sym typeface="Cambria" panose="02040503050406030204"/>
                      </a:endParaRPr>
                    </a:p>
                  </a:txBody>
                  <a:tcPr marL="0" marR="0" marT="28575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 b="0">
                          <a:solidFill>
                            <a:schemeClr val="tx1"/>
                          </a:solidFill>
                          <a:sym typeface="+mn-ea"/>
                        </a:rPr>
                        <a:t>AI Enabled Smart Healthcare Monitoring Framework Using IoT</a:t>
                      </a:r>
                      <a:endParaRPr sz="1900" b="0" u="none" strike="noStrike" cap="none"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b="0" u="none" strike="noStrike" cap="none" dirty="0"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705913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Cambria" panose="02040503050406030204"/>
                        </a:rPr>
                        <a:t>Year of Publish:</a:t>
                      </a:r>
                      <a:endParaRPr sz="1800">
                        <a:latin typeface="Cambria" panose="02040503050406030204"/>
                        <a:ea typeface="Cambria" panose="02040503050406030204"/>
                        <a:cs typeface="Cambria" panose="02040503050406030204"/>
                        <a:sym typeface="Cambria" panose="02040503050406030204"/>
                      </a:endParaRPr>
                    </a:p>
                  </a:txBody>
                  <a:tcPr marL="0" marR="0" marT="28575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2023</a:t>
                      </a:r>
                      <a:endParaRPr sz="19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685086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Cambria" panose="02040503050406030204"/>
                        </a:rPr>
                        <a:t>Name of the Authors:</a:t>
                      </a:r>
                      <a:endParaRPr sz="1800">
                        <a:latin typeface="Cambria" panose="02040503050406030204"/>
                        <a:ea typeface="Cambria" panose="02040503050406030204"/>
                        <a:cs typeface="Cambria" panose="02040503050406030204"/>
                        <a:sym typeface="Cambria" panose="02040503050406030204"/>
                      </a:endParaRPr>
                    </a:p>
                  </a:txBody>
                  <a:tcPr marL="0" marR="0" marT="28575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Ahmed, Saleh et al.</a:t>
                      </a:r>
                      <a:endParaRPr sz="19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705913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Cambria" panose="02040503050406030204"/>
                        </a:rPr>
                        <a:t>Name of the Journal:</a:t>
                      </a:r>
                      <a:endParaRPr sz="1800">
                        <a:latin typeface="Cambria" panose="02040503050406030204"/>
                        <a:ea typeface="Cambria" panose="02040503050406030204"/>
                        <a:cs typeface="Cambria" panose="02040503050406030204"/>
                        <a:sym typeface="Cambria" panose="02040503050406030204"/>
                      </a:endParaRPr>
                    </a:p>
                  </a:txBody>
                  <a:tcPr marL="0" marR="0" marT="28575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 panose="02020603050405020304"/>
                        <a:buNone/>
                      </a:pPr>
                      <a:r>
                        <a:rPr lang="en-US" sz="2000" dirty="0"/>
                        <a:t>IEEE Access</a:t>
                      </a:r>
                      <a:endParaRPr sz="19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982950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Cambria" panose="02040503050406030204"/>
                        </a:rPr>
                        <a:t>Methodology:</a:t>
                      </a:r>
                      <a:endParaRPr sz="1800">
                        <a:latin typeface="Cambria" panose="02040503050406030204"/>
                        <a:ea typeface="Cambria" panose="02040503050406030204"/>
                        <a:cs typeface="Cambria" panose="02040503050406030204"/>
                        <a:sym typeface="Cambria" panose="02040503050406030204"/>
                      </a:endParaRPr>
                    </a:p>
                  </a:txBody>
                  <a:tcPr marL="0" marR="0" marT="28575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ym typeface="+mn-ea"/>
                        </a:rPr>
                        <a:t>Hybrid AI and IoT-based architecture</a:t>
                      </a:r>
                      <a:endParaRPr sz="200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80814"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ambria" panose="02040503050406030204"/>
                          <a:ea typeface="Cambria" panose="02040503050406030204"/>
                          <a:cs typeface="Cambria" panose="02040503050406030204"/>
                          <a:sym typeface="Cambria" panose="02040503050406030204"/>
                        </a:rPr>
                        <a:t>Inferences:</a:t>
                      </a:r>
                      <a:endParaRPr sz="1800">
                        <a:latin typeface="Cambria" panose="02040503050406030204"/>
                        <a:ea typeface="Cambria" panose="02040503050406030204"/>
                        <a:cs typeface="Cambria" panose="02040503050406030204"/>
                        <a:sym typeface="Cambria" panose="02040503050406030204"/>
                      </a:endParaRPr>
                    </a:p>
                  </a:txBody>
                  <a:tcPr marL="0" marR="0" marT="28575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ym typeface="+mn-ea"/>
                        </a:rPr>
                        <a:t>Supports intelligent monitoring but faces scalability and sensor reliability issues</a:t>
                      </a:r>
                      <a:endParaRPr sz="1800" b="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94735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                                   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BLOCK DIAGRAM</a:t>
            </a:r>
            <a:endParaRPr lang="en-IN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635" y="1110615"/>
            <a:ext cx="3924300" cy="5158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65239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                                         RESULTS</a:t>
            </a:r>
            <a:endParaRPr lang="en-IN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7480" y="1189990"/>
            <a:ext cx="10558145" cy="5466715"/>
          </a:xfrm>
        </p:spPr>
        <p:txBody>
          <a:bodyPr>
            <a:normAutofit fontScale="90000" lnSpcReduction="20000"/>
          </a:bodyPr>
          <a:lstStyle/>
          <a:p>
            <a:pPr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measures body temperature using the MLX90614 sensor in real time.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readings are stable and suitable for continuous ICU patient monitoring.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HW-827 heart rate sensor accurately detects pulse rate (BPM).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consistent values that help in observing patient cardiac conditions.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Mega 2560 efficiently processes data from both sensors.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smooth coordination between hardware components without delays.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successfully transmits patient health data over Wi-Fi.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can be viewed remotely on a mobile device or web interface.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of patient vitals is achieved without interruption.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allows continuous observation even without physical presence.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capable of detecting abnormal health conditions.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can be triggered when temperature or heart rate exceeds limits.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communication between sensors and cloud/server is reliable.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minimal data loss during transmission.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overall system improves monitoring efficiency in ICU environments.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dependency on manual checking by healthcare staff.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875071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                              PROJECT SUMMARY</a:t>
            </a:r>
            <a:endParaRPr lang="en-IN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9325" y="1373505"/>
            <a:ext cx="10639425" cy="4667250"/>
          </a:xfrm>
        </p:spPr>
        <p:txBody>
          <a:bodyPr>
            <a:normAutofit fontScale="25000"/>
          </a:bodyPr>
          <a:lstStyle/>
          <a:p>
            <a:r>
              <a:rPr lang="en-US" alt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develops an IoT-based ICU monitoring system for continuous patient health tracking.</a:t>
            </a:r>
            <a:endParaRPr lang="en-US" alt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monitors key vital signs such as body temperature and heart rate in real time.</a:t>
            </a:r>
            <a:endParaRPr lang="en-US" alt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MLX90614 sensor is used for accurate and non-contact temperature measurement.</a:t>
            </a:r>
            <a:endParaRPr lang="en-US" alt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HW-827 sensor is used to measure the patient’s pulse rate (BPM).</a:t>
            </a:r>
            <a:endParaRPr lang="en-US" alt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Mega 2560 is used as the main controller to process sensor data.</a:t>
            </a:r>
            <a:endParaRPr lang="en-US" alt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module enables wireless transmission of patient data through Wi-Fi.</a:t>
            </a:r>
            <a:endParaRPr lang="en-US" alt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remote monitoring of patient health conditions from anywhere.</a:t>
            </a:r>
            <a:endParaRPr lang="en-US" alt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doctors and healthcare staff to observe patients without constant manual checking.</a:t>
            </a:r>
            <a:endParaRPr lang="en-US" alt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Abnormal health conditions can be identified quickly for faster response.</a:t>
            </a:r>
            <a:endParaRPr lang="en-US" alt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efficiency, accuracy, and reliability in ICU monitoring.</a:t>
            </a:r>
            <a:endParaRPr lang="en-US" alt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workload on hospital staff and supports better patient care.</a:t>
            </a:r>
            <a:endParaRPr lang="en-US" alt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provides a low-cost and effective smart healthcare solution.</a:t>
            </a:r>
            <a:endParaRPr lang="en-US" alt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04567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                                    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FUTURE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WORK</a:t>
            </a:r>
            <a:endParaRPr lang="en-IN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5574" y="1730477"/>
            <a:ext cx="10659038" cy="4650658"/>
          </a:xfrm>
        </p:spPr>
        <p:txBody>
          <a:bodyPr>
            <a:no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</a:pPr>
            <a:r>
              <a:rPr lang="en-US" altLang="en-US" sz="16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Add more health monitoring sensors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</a:pPr>
            <a:r>
              <a:rPr lang="en-US" altLang="en-US" sz="16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Apply advanced AI prediction models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</a:pPr>
            <a:r>
              <a:rPr lang="en-US" altLang="en-US" sz="16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Develop dedicated mobile monitoring application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</a:pPr>
            <a:r>
              <a:rPr lang="en-US" altLang="en-US" sz="16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Enable multi-patient ICU monitoring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</a:pPr>
            <a:r>
              <a:rPr lang="en-US" altLang="en-US" sz="16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Improve data security and cloud analytics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</a:pPr>
            <a:r>
              <a:rPr lang="en-US" altLang="en-US" sz="16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Support wearable and remote healthcare systems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kumimoji="0" lang="en-US" altLang="en-US" sz="1600" b="0" i="0" u="none" strike="noStrike" kern="1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865239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                                    REFERENCES</a:t>
            </a:r>
            <a:endParaRPr lang="en-IN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6025" y="1329075"/>
            <a:ext cx="9438967" cy="4102087"/>
          </a:xfrm>
        </p:spPr>
        <p:txBody>
          <a:bodyPr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600">
                <a:sym typeface="+mn-ea"/>
              </a:rPr>
              <a:t>1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Pantelopoulos, A., Bourbakis, N.,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Survey on Wearable Sensor-Based Systems for Health Monitoring, IEEE Systems Journal, 2010.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</a:t>
            </a: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Haghi, M., et al.,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Wearable Devices in Medical Internet of Things, Sensors, 2017.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</a:t>
            </a: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Istepanian, R. S. H., et al.,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Mobile Health Systems and AI Integration, IEEE Transactions on Information Technology in Biomedicine, 2011.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4. </a:t>
            </a: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Rajasekaran, S.,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IoT-Based Healthcare Monitoring System, International Journal of Engineering &amp; Technology, 2018.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5.</a:t>
            </a: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Malasinghe, L. P., et al.,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Remote Patient Monitoring Using IoT and Cloud Computing, IEEE Access, 2019.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AutoNum type="arabicPeriod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8503</Words>
  <Application>WPS Presentation</Application>
  <PresentationFormat>Widescreen</PresentationFormat>
  <Paragraphs>264</Paragraphs>
  <Slides>14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8" baseType="lpstr">
      <vt:lpstr>Arial</vt:lpstr>
      <vt:lpstr>SimSun</vt:lpstr>
      <vt:lpstr>Wingdings</vt:lpstr>
      <vt:lpstr>Wingdings 3</vt:lpstr>
      <vt:lpstr>Arial</vt:lpstr>
      <vt:lpstr>Arial Rounded MT Bold</vt:lpstr>
      <vt:lpstr>Calibri</vt:lpstr>
      <vt:lpstr>Times New Roman</vt:lpstr>
      <vt:lpstr>Century Gothic</vt:lpstr>
      <vt:lpstr>Microsoft YaHei</vt:lpstr>
      <vt:lpstr>Arial Unicode MS</vt:lpstr>
      <vt:lpstr>Cambria</vt:lpstr>
      <vt:lpstr>Times New Roman</vt:lpstr>
      <vt:lpstr>Wisp</vt:lpstr>
      <vt:lpstr>SMART ATTENDANCE MONITORING SYSTEM</vt:lpstr>
      <vt:lpstr>                           PROJECT OBJECTIVES</vt:lpstr>
      <vt:lpstr>                            PROJECT DESCRIPTION</vt:lpstr>
      <vt:lpstr>                                      ABSTRACT</vt:lpstr>
      <vt:lpstr>                             LITERATURE SURVEY: 1</vt:lpstr>
      <vt:lpstr>                          LITERATURE SURVEY: 2</vt:lpstr>
      <vt:lpstr>                       LITERATURE SURVEY: 3</vt:lpstr>
      <vt:lpstr>                       LITERATURE SURVEY: 4</vt:lpstr>
      <vt:lpstr>                       LITERATURE SURVEY: 5</vt:lpstr>
      <vt:lpstr>                                   BLOCK DIAGRAM</vt:lpstr>
      <vt:lpstr>                                          RESULTS</vt:lpstr>
      <vt:lpstr>                               PROJECT SUMMARY</vt:lpstr>
      <vt:lpstr>                                    FUTURE WORK</vt:lpstr>
      <vt:lpstr>                                     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M. Muthupandi</dc:creator>
  <cp:lastModifiedBy>SMART</cp:lastModifiedBy>
  <cp:revision>6</cp:revision>
  <dcterms:created xsi:type="dcterms:W3CDTF">2025-05-21T16:11:00Z</dcterms:created>
  <dcterms:modified xsi:type="dcterms:W3CDTF">2026-05-01T15:19:13Z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8189BA58E07E433D91C03C00D717C2F1_13</vt:lpwstr>
  </property>
</Properties>
</file>